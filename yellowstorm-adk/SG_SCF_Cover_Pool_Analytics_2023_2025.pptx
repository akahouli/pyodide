
<file path=[Content_Types].xml><?xml version="1.0" encoding="utf-8"?>
<Types xmlns="http://schemas.openxmlformats.org/package/2006/content-types">
  <Default Extension="xml" ContentType="application/vnd.openxmlformats-officedocument.presentationml.presentation.main+xml"/>
  <Default Extension="rels" ContentType="application/vnd.openxmlformats-package.relationships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slides/slide1.xml" ContentType="application/vnd.openxmlformats-officedocument.presentationml.slide+xml"/>
</Types>
</file>

<file path=_rels/.rels>&#65279;<?xml version="1.0" encoding="utf-8"?><Relationships xmlns="http://schemas.openxmlformats.org/package/2006/relationships"><Relationship Type="http://schemas.openxmlformats.org/officeDocument/2006/relationships/officeDocument" Target="/ppt/presentation.xml" Id="R4203ba95f5a749cd" /><Relationship Type="http://schemas.openxmlformats.org/package/2006/relationships/metadata/core-properties" Target="/docProps/core.xml" Id="R65e334d7c621478c" /><Relationship Type="http://schemas.openxmlformats.org/officeDocument/2006/relationships/extended-properties" Target="/docProps/app.xml" Id="R1834493508a44311" /><Relationship Type="http://schemas.openxmlformats.org/officeDocument/2006/relationships/custom-properties" Target="/docProps/custom.xml" Id="R7af50d10602a4dbb" /></Relationships>
</file>

<file path=ppt/presentation.xml><?xml version="1.0" encoding="utf-8"?>
<p:presentation xmlns:r="http://schemas.openxmlformats.org/officeDocument/2006/relationships" xmlns:p="http://schemas.openxmlformats.org/presentationml/2006/main">
  <p:sldMasterIdLst>
    <p:sldMasterId xmlns:r="http://schemas.openxmlformats.org/officeDocument/2006/relationships" id="2147483648" r:id="rId1"/>
  </p:sldMasterIdLst>
  <p:sldIdLst>
    <p:sldId id="256" r:id="R233e62648962494f"/>
  </p:sldIdLst>
  <p:sldSz cx="12192000" cy="6858000"/>
  <p:notesSz cx="6858000" cy="9144000"/>
</p:presentation>
</file>

<file path=ppt/_rels/presentation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Id1" /><Relationship Type="http://schemas.openxmlformats.org/officeDocument/2006/relationships/theme" Target="/ppt/theme/theme1.xml" Id="rId2" /><Relationship Type="http://schemas.openxmlformats.org/officeDocument/2006/relationships/slide" Target="/ppt/slides/slide1.xml" Id="R233e62648962494f" /></Relationship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ce6d09190ec4988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85a6e4d7a834291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749312e2d23492f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80fbc4c8b9b4a0a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12c3dcd81a54a1e" /></Relationships>
</file>

<file path=ppt/slideLayouts/slideLayout1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/>
    </p:spTree>
  </p:cSld>
</p:sldLayout>
</file>

<file path=ppt/slideLayouts/slideLayout2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/>
      <p:sp>
        <p:nvSpPr>
          <p:cNvPr id="2" name="Title"/>
          <p:cNvSpPr>
            <a:spLocks xmlns:a="http://schemas.openxmlformats.org/drawingml/2006/main" noGrp="1"/>
          </p:cNvSpPr>
          <p:nvPr>
            <p:ph type="ctrTitle"/>
          </p:nvPr>
        </p:nvSpPr>
        <p:spPr>
          <a:xfrm xmlns:a="http://schemas.openxmlformats.org/drawingml/2006/main">
            <a:off x="685800" y="2130425"/>
            <a:ext cx="7772400" cy="1470025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  <p:sp>
        <p:nvSpPr>
          <p:cNvPr id="3" name="Subtitle"/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371600" y="3886200"/>
            <a:ext cx="6400800" cy="175260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</p:spTree>
  </p:cSld>
</p:sldLayout>
</file>

<file path=ppt/slideLayouts/slideLayout3.xml><?xml version="1.0" encoding="utf-8"?>
<p:sldLayout xmlns:p="http://schemas.openxmlformats.org/presentationml/2006/main" type="objTx">
  <p:cSld name="Title and Content">
    <p:spTree>
      <p:nvGrpSpPr>
        <p:cNvPr id="1" name=""/>
        <p:cNvGrpSpPr/>
        <p:nvPr/>
      </p:nvGrpSpPr>
      <p:grpSpPr/>
      <p:sp>
        <p:nvSpPr>
          <p:cNvPr id="2" name="Title"/>
          <p:cNvSpPr>
            <a:spLocks xmlns:a="http://schemas.openxmlformats.org/drawingml/2006/main" noGrp="1"/>
          </p:cNvSpPr>
          <p:nvPr>
            <p:ph type="title"/>
          </p:nvPr>
        </p:nvSpPr>
        <p:spPr>
          <a:xfrm xmlns:a="http://schemas.openxmlformats.org/drawingml/2006/main">
            <a:off x="838200" y="365125"/>
            <a:ext cx="10515600" cy="1325563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  <p:sp>
        <p:nvSpPr>
          <p:cNvPr id="3" name="Content"/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8200" y="1825625"/>
            <a:ext cx="10515600" cy="435133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</p:spTree>
  </p:cSld>
</p:sldLayout>
</file>

<file path=ppt/slideLayouts/slideLayout4.xml><?xml version="1.0" encoding="utf-8"?>
<p:sldLayout xmlns:p="http://schemas.openxmlformats.org/presentationml/2006/main" type="twoColTx">
  <p:cSld name="Two Content">
    <p:spTree>
      <p:nvGrpSpPr>
        <p:cNvPr id="1" name=""/>
        <p:cNvGrpSpPr/>
        <p:nvPr/>
      </p:nvGrpSpPr>
      <p:grpSpPr/>
      <p:sp>
        <p:nvSpPr>
          <p:cNvPr id="2" name="Title"/>
          <p:cNvSpPr>
            <a:spLocks xmlns:a="http://schemas.openxmlformats.org/drawingml/2006/main" noGrp="1"/>
          </p:cNvSpPr>
          <p:nvPr>
            <p:ph type="title"/>
          </p:nvPr>
        </p:nvSpPr>
        <p:spPr>
          <a:xfrm xmlns:a="http://schemas.openxmlformats.org/drawingml/2006/main">
            <a:off x="838200" y="365125"/>
            <a:ext cx="10515600" cy="1325563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  <p:sp>
        <p:nvSpPr>
          <p:cNvPr id="3" name="Content Left"/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8200" y="1825625"/>
            <a:ext cx="5181600" cy="435133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  <p:sp>
        <p:nvSpPr>
          <p:cNvPr id="4" name="Content Right"/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172200" y="1825625"/>
            <a:ext cx="5181600" cy="435133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</p:spTree>
  </p:cSld>
</p:sldLayout>
</file>

<file path=ppt/slideLayouts/slideLayout5.xml><?xml version="1.0" encoding="utf-8"?>
<p:sldLayout xmlns:p="http://schemas.openxmlformats.org/presentationml/2006/main" type="titleOnly">
  <p:cSld name="Title Only">
    <p:spTree>
      <p:nvGrpSpPr>
        <p:cNvPr id="1" name=""/>
        <p:cNvGrpSpPr/>
        <p:nvPr/>
      </p:nvGrpSpPr>
      <p:grpSpPr/>
      <p:sp>
        <p:nvSpPr>
          <p:cNvPr id="2" name="Title"/>
          <p:cNvSpPr>
            <a:spLocks xmlns:a="http://schemas.openxmlformats.org/drawingml/2006/main" noGrp="1"/>
          </p:cNvSpPr>
          <p:nvPr>
            <p:ph type="title"/>
          </p:nvPr>
        </p:nvSpPr>
        <p:spPr>
          <a:xfrm xmlns:a="http://schemas.openxmlformats.org/drawingml/2006/main">
            <a:off x="838200" y="365125"/>
            <a:ext cx="10515600" cy="1325563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Id1" /><Relationship Type="http://schemas.openxmlformats.org/officeDocument/2006/relationships/theme" Target="/ppt/theme/theme1.xml" Id="Rb99ec27f75d44eb9" /><Relationship Type="http://schemas.openxmlformats.org/officeDocument/2006/relationships/slideLayout" Target="/ppt/slideLayouts/slideLayout2.xml" Id="rId2" /><Relationship Type="http://schemas.openxmlformats.org/officeDocument/2006/relationships/slideLayout" Target="/ppt/slideLayouts/slideLayout3.xml" Id="rId3" /><Relationship Type="http://schemas.openxmlformats.org/officeDocument/2006/relationships/slideLayout" Target="/ppt/slideLayouts/slideLayout4.xml" Id="rId4" /><Relationship Type="http://schemas.openxmlformats.org/officeDocument/2006/relationships/slideLayout" Target="/ppt/slideLayouts/slideLayout5.xml" Id="rId5" /></Relationships>
</file>

<file path=ppt/slideMasters/slideMaster1.xml><?xml version="1.0" encoding="utf-8"?>
<p:sldMaster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Id1"/>
    <p:sldLayoutId xmlns:r="http://schemas.openxmlformats.org/officeDocument/2006/relationships" id="2147483650" r:id="rId2"/>
    <p:sldLayoutId xmlns:r="http://schemas.openxmlformats.org/officeDocument/2006/relationships" id="2147483651" r:id="rId3"/>
    <p:sldLayoutId xmlns:r="http://schemas.openxmlformats.org/officeDocument/2006/relationships" id="2147483652" r:id="rId4"/>
    <p:sldLayoutId xmlns:r="http://schemas.openxmlformats.org/officeDocument/2006/relationships" id="2147483653" r:id="rId5"/>
  </p:sldLayoutIdLst>
</p:sldMaster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2d4fb91a91b40de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0D1117"/>
        </a:solidFill>
      </p:bgPr>
    </p:bg>
    <p:spTree>
      <p:nvGrpSpPr>
        <p:cNvPr id="1" name=""/>
        <p:cNvGrpSpPr/>
        <p:nvPr/>
      </p:nvGrpSpPr>
      <p:grpSpPr/>
      <p:sp>
        <p:nvSpPr>
          <p:cNvPr id="100000" name="TextBox 1"/>
          <p:cNvSpPr/>
          <p:nvPr/>
        </p:nvSpPr>
        <p:spPr>
          <a:xfrm xmlns:a="http://schemas.openxmlformats.org/drawingml/2006/main">
            <a:off x="0" y="0"/>
            <a:ext cx="12193200" cy="3240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A2233"/>
          </a:solidFill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00001" name="TextBox 2"/>
          <p:cNvSpPr/>
          <p:nvPr/>
        </p:nvSpPr>
        <p:spPr>
          <a:xfrm xmlns:a="http://schemas.openxmlformats.org/drawingml/2006/main">
            <a:off x="0" y="3168000"/>
            <a:ext cx="12193200" cy="5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6FEB"/>
          </a:solidFill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00002" name="TextBox 3"/>
          <p:cNvSpPr txBox="1"/>
          <p:nvPr/>
        </p:nvSpPr>
        <p:spPr>
          <a:xfrm xmlns:a="http://schemas.openxmlformats.org/drawingml/2006/main">
            <a:off x="720000" y="432000"/>
            <a:ext cx="3600000" cy="360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/>
            <a:r>
              <a:rPr lang="en-US" sz="2000">
                <a:solidFill>
                  <a:srgbClr val="8B949E"/>
                </a:solidFill>
                <a:latin typeface="Segoe UI"/>
                <a:ea typeface="Segoe UI"/>
              </a:rPr>
              <a:t>SG SCF</a:t>
            </a:r>
          </a:p>
        </p:txBody>
      </p:sp>
      <p:sp>
        <p:nvSpPr>
          <p:cNvPr id="100003" name="TextBox 4"/>
          <p:cNvSpPr txBox="1"/>
          <p:nvPr/>
        </p:nvSpPr>
        <p:spPr>
          <a:xfrm xmlns:a="http://schemas.openxmlformats.org/drawingml/2006/main">
            <a:off x="720000" y="1008000"/>
            <a:ext cx="10440000" cy="720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/>
            <a:r>
              <a:rPr lang="en-US" sz="4400" b="1">
                <a:solidFill>
                  <a:srgbClr val="E6EDF3"/>
                </a:solidFill>
                <a:latin typeface="Segoe UI"/>
                <a:ea typeface="Segoe UI"/>
              </a:rPr>
              <a:t>Cover Pool Analytics</a:t>
            </a:r>
          </a:p>
        </p:txBody>
      </p:sp>
      <p:sp>
        <p:nvSpPr>
          <p:cNvPr id="100004" name="TextBox 5"/>
          <p:cNvSpPr txBox="1"/>
          <p:nvPr/>
        </p:nvSpPr>
        <p:spPr>
          <a:xfrm xmlns:a="http://schemas.openxmlformats.org/drawingml/2006/main">
            <a:off x="720000" y="1728000"/>
            <a:ext cx="10440000" cy="43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/>
            <a:r>
              <a:rPr lang="en-US" sz="1800">
                <a:solidFill>
                  <a:srgbClr val="1F6FEB"/>
                </a:solidFill>
                <a:latin typeface="Segoe UI"/>
                <a:ea typeface="Segoe UI"/>
              </a:rPr>
              <a:t>Évolution de l'actif de couverture 2023–2025</a:t>
            </a:r>
          </a:p>
        </p:txBody>
      </p:sp>
      <p:sp>
        <p:nvSpPr>
          <p:cNvPr id="100005" name="TextBox 6"/>
          <p:cNvSpPr txBox="1"/>
          <p:nvPr/>
        </p:nvSpPr>
        <p:spPr>
          <a:xfrm xmlns:a="http://schemas.openxmlformats.org/drawingml/2006/main">
            <a:off x="720000" y="2160000"/>
            <a:ext cx="10440000" cy="360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/>
            <a:r>
              <a:rPr lang="en-US" sz="1300">
                <a:solidFill>
                  <a:srgbClr val="8B949E"/>
                </a:solidFill>
                <a:latin typeface="Segoe UI"/>
                <a:ea typeface="Segoe UI"/>
              </a:rPr>
              <a:t>Impact des variations macroéconomiques sur le ratio de surdimensionnement</a:t>
            </a:r>
          </a:p>
        </p:txBody>
      </p:sp>
      <p:sp>
        <p:nvSpPr>
          <p:cNvPr id="100006" name="TextBox 7"/>
          <p:cNvSpPr txBox="1"/>
          <p:nvPr/>
        </p:nvSpPr>
        <p:spPr>
          <a:xfrm xmlns:a="http://schemas.openxmlformats.org/drawingml/2006/main">
            <a:off x="720000" y="6300000"/>
            <a:ext cx="7200000" cy="288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/>
            <a:r>
              <a:rPr lang="en-US" sz="900">
                <a:solidFill>
                  <a:srgbClr val="6E7681"/>
                </a:solidFill>
                <a:latin typeface="Segoe UI"/>
                <a:ea typeface="Segoe UI"/>
              </a:rPr>
              <a:t>Source : Rapports Financiers Annuels SG SCF 2023 &amp; 2025</a:t>
            </a:r>
          </a:p>
        </p:txBody>
      </p:sp>
      <p:sp>
        <p:nvSpPr>
          <p:cNvPr id="100007" name="TextBox 8"/>
          <p:cNvSpPr/>
          <p:nvPr/>
        </p:nvSpPr>
        <p:spPr>
          <a:xfrm xmlns:a="http://schemas.openxmlformats.org/drawingml/2006/main">
            <a:off x="10260000" y="360000"/>
            <a:ext cx="1080000" cy="1080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F6FEB">
              <a:alpha val="10000"/>
            </a:srgbClr>
          </a:solidFill>
          <a:ln xmlns:a="http://schemas.openxmlformats.org/drawingml/2006/main" w="19050">
            <a:solidFill>
              <a:srgbClr val="1F6FEB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00008" name="TextBox 9"/>
          <p:cNvSpPr/>
          <p:nvPr/>
        </p:nvSpPr>
        <p:spPr>
          <a:xfrm xmlns:a="http://schemas.openxmlformats.org/drawingml/2006/main">
            <a:off x="9540000" y="5580000"/>
            <a:ext cx="1800000" cy="9000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2EA043">
              <a:alpha val="8000"/>
            </a:srgbClr>
          </a:solidFill>
          <a:ln xmlns:a="http://schemas.openxmlformats.org/drawingml/2006/main" w="12700">
            <a:solidFill>
              <a:srgbClr val="2EA043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</a:majorFont>
      <a:minorFont>
        <a:latin typeface="Calibri"/>
        <a:ea typeface=""/>
        <a:cs typeface=""/>
      </a:minorFont>
    </a:fontScheme>
    <a:fmtScheme name="Office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>
          <a:solidFill>
            <a:schemeClr val="phClr"/>
          </a:solidFill>
        </a:ln>
        <a:ln w="12700" cap="flat">
          <a:solidFill>
            <a:schemeClr val="phClr"/>
          </a:solidFill>
        </a:ln>
        <a:ln w="19050" cap="flat">
          <a:solidFill>
            <a:schemeClr val="phClr"/>
          </a:solidFill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ap:Properties xmlns:ap="http://schemas.openxmlformats.org/officeDocument/2006/extended-properties">
  <ap:Application>OfficeCLI/1.0.141</ap:Application>
</ap: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:creator>OfficeCLI</dc:creator>
  <dcterms:created xsi:type="dcterms:W3CDTF">2026-07-25T21:00:27Z</dcterms:created>
  <cp:lastModifiedBy>OfficeCLI</cp:lastModifiedBy>
  <dcterms:modified xsi:type="dcterms:W3CDTF">2026-07-25T21:00:27Z</dcterms:modified>
</cp:coreProperties>
</file>

<file path=docProps/custom.xml><?xml version="1.0" encoding="utf-8"?>
<op:Properties xmlns:op="http://schemas.openxmlformats.org/officeDocument/2006/custom-properties">
  <op:property fmtid="{D5CDD505-2E9C-101B-9397-08002B2CF9AE}" pid="2" name="OfficeCLI.Version">
    <vt:lpwstr xmlns:vt="http://schemas.openxmlformats.org/officeDocument/2006/docPropsVTypes">1.0.141</vt:lpwstr>
  </op:property>
  <op:property fmtid="{D5CDD505-2E9C-101B-9397-08002B2CF9AE}" pid="3" name="OfficeCLI.LastModified">
    <vt:lpwstr xmlns:vt="http://schemas.openxmlformats.org/officeDocument/2006/docPropsVTypes">2026-07-25T21:00:50Z</vt:lpwstr>
  </op:property>
</op:Properties>
</file>