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6d1b459a7b24127" /><Relationship Type="http://schemas.openxmlformats.org/package/2006/relationships/metadata/core-properties" Target="/docProps/core.xml" Id="Rdd464d23f6bf4691" /><Relationship Type="http://schemas.openxmlformats.org/officeDocument/2006/relationships/extended-properties" Target="/docProps/app.xml" Id="R5a868f0a8e8241c5" /><Relationship Type="http://schemas.openxmlformats.org/officeDocument/2006/relationships/custom-properties" Target="/docProps/custom.xml" Id="Re4957079c96948e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207a6c6f1d74469"/>
    <p:sldId id="257" r:id="R2e7b7c5cde614076"/>
    <p:sldId id="258" r:id="R1e92cb1bd5cc4b60"/>
    <p:sldId id="259" r:id="R0e5c52455f0e47aa"/>
    <p:sldId id="260" r:id="Rd7531e810b3a4569"/>
    <p:sldId id="261" r:id="R3390eb92f0cc44eb"/>
    <p:sldId id="262" r:id="Ra0811bdab57a423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207a6c6f1d74469" /><Relationship Type="http://schemas.openxmlformats.org/officeDocument/2006/relationships/slide" Target="/ppt/slides/slide2.xml" Id="R2e7b7c5cde614076" /><Relationship Type="http://schemas.openxmlformats.org/officeDocument/2006/relationships/slide" Target="/ppt/slides/slide3.xml" Id="R1e92cb1bd5cc4b60" /><Relationship Type="http://schemas.openxmlformats.org/officeDocument/2006/relationships/slide" Target="/ppt/slides/slide4.xml" Id="R0e5c52455f0e47aa" /><Relationship Type="http://schemas.openxmlformats.org/officeDocument/2006/relationships/slide" Target="/ppt/slides/slide5.xml" Id="Rd7531e810b3a4569" /><Relationship Type="http://schemas.openxmlformats.org/officeDocument/2006/relationships/slide" Target="/ppt/slides/slide6.xml" Id="R3390eb92f0cc44eb" /><Relationship Type="http://schemas.openxmlformats.org/officeDocument/2006/relationships/slide" Target="/ppt/slides/slide7.xml" Id="Ra0811bdab57a423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c30b9064e49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95f876fab48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57c337fec40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b4777917144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4e2433cb94f4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e1c45ecb9fb4f5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ec17b7b214d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182e275a2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3676c16c24226" /><Relationship Type="http://schemas.openxmlformats.org/officeDocument/2006/relationships/chart" Target="/ppt/slides/charts/chart1.xml" Id="R34f771dc2a3848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b15edb2fc49c0" /><Relationship Type="http://schemas.openxmlformats.org/officeDocument/2006/relationships/chart" Target="/ppt/slides/charts/chart2.xml" Id="R8a6b188c478a4d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c641236534a5a" /><Relationship Type="http://schemas.openxmlformats.org/officeDocument/2006/relationships/chart" Target="/ppt/slides/charts/chart3.xml" Id="Ra6903f20a61d42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01494b90548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1cb9540594e5d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>
                <a:solidFill>
                  <a:srgbClr val="E6EDF3"/>
                </a:solidFill>
              </a:rPr>
              <a:t>Croissance des actifs et du passif (M EUR)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Cover Pool</c:v>
          </c:tx>
          <c:spPr>
            <a:solidFill xmlns:a="http://schemas.openxmlformats.org/drawingml/2006/main">
              <a:srgbClr val="1F6FEB"/>
            </a:solidFill>
          </c:spPr>
          <c:invertIfNegative val="0"/>
          <c:cat>
            <c:strLit>
              <c:ptCount val="2"/>
              <c:pt idx="0">
                <c:v>2023</c:v>
              </c:pt>
              <c:pt idx="1">
                <c:v>2025</c:v>
              </c:pt>
            </c:strLit>
          </c:cat>
          <c:val>
            <c:numLit>
              <c:formatCode>General</c:formatCode>
              <c:ptCount val="2"/>
              <c:pt idx="0">
                <c:v>16778</c:v>
              </c:pt>
              <c:pt idx="1">
                <c:v>19931</c:v>
              </c:pt>
            </c:numLit>
          </c:val>
        </c:ser>
        <c:ser>
          <c:idx val="1"/>
          <c:order val="1"/>
          <c:tx>
            <c:v>Oblig. Foncieres</c:v>
          </c:tx>
          <c:spPr>
            <a:solidFill xmlns:a="http://schemas.openxmlformats.org/drawingml/2006/main">
              <a:srgbClr val="F0883E"/>
            </a:solidFill>
          </c:spPr>
          <c:invertIfNegative val="0"/>
          <c:cat>
            <c:strLit>
              <c:ptCount val="2"/>
              <c:pt idx="0">
                <c:v>2023</c:v>
              </c:pt>
              <c:pt idx="1">
                <c:v>2025</c:v>
              </c:pt>
            </c:strLit>
          </c:cat>
          <c:val>
            <c:numLit>
              <c:formatCode>General</c:formatCode>
              <c:ptCount val="2"/>
              <c:pt idx="0">
                <c:v>12732</c:v>
              </c:pt>
              <c:pt idx="1">
                <c:v>15700</c:v>
              </c:pt>
            </c:numLit>
          </c:val>
        </c:ser>
        <c:dLbls>
          <c:txPr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00">
                  <a:solidFill>
                    <a:srgbClr val="E6EDF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B949E"/>
                </a:solidFill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B949E"/>
                </a:solidFill>
              </a:defRPr>
            </a:pPr>
          </a:p>
        </c:txPr>
        <c:crossAx val="1"/>
        <c:crosses val="autoZero"/>
        <c:crossBetween val="between"/>
      </c:valAx>
      <c:spPr>
        <a:solidFill xmlns:a="http://schemas.openxmlformats.org/drawingml/2006/main">
          <a:srgbClr val="1A2233"/>
        </a:solidFill>
      </c:spPr>
    </c:plotArea>
    <c:legend>
      <c:legendPos val="b"/>
      <c:overlay val="0"/>
    </c:legend>
    <c:plotVisOnly val="1"/>
    <c:dispBlanksAs val="gap"/>
  </c:chart>
  <c:spPr>
    <a:solidFill xmlns:a="http://schemas.openxmlformats.org/drawingml/2006/main">
      <a:srgbClr val="0D1117"/>
    </a:solidFill>
  </c:spPr>
</c:chartSpace>
</file>

<file path=ppt/slides/charts/chart2.xml><?xml version="1.0" encoding="utf-8"?>
<c:chartSpace xmlns:a="http://schemas.openxmlformats.org/drawingml/2006/main"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>
                <a:solidFill>
                  <a:srgbClr val="E6EDF3"/>
                </a:solidFill>
              </a:rPr>
              <a:t>Ratio de couverture (%)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Ratio</c:v>
          </c:tx>
          <c:spPr>
            <a:solidFill xmlns:a="http://schemas.openxmlformats.org/drawingml/2006/main">
              <a:srgbClr val="F0883E"/>
            </a:solidFill>
          </c:spPr>
          <c:invertIfNegative val="0"/>
          <c:cat>
            <c:strLit>
              <c:ptCount val="2"/>
              <c:pt idx="0">
                <c:v>2023</c:v>
              </c:pt>
              <c:pt idx="1">
                <c:v>2025</c:v>
              </c:pt>
            </c:strLit>
          </c:cat>
          <c:val>
            <c:numLit>
              <c:formatCode>General</c:formatCode>
              <c:ptCount val="2"/>
              <c:pt idx="0">
                <c:v>132.2</c:v>
              </c:pt>
              <c:pt idx="1">
                <c:v>127.24</c:v>
              </c:pt>
            </c:numLit>
          </c:val>
        </c:ser>
        <c:dLbls>
          <c:txPr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6EDF3"/>
                  </a:solidFill>
                  <a:latin typeface="bold"/>
                  <a:ea typeface="bold"/>
                </a:defRPr>
              </a:pPr>
            </a:p>
          </c:txPr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lineChart>
        <c:grouping val="standard"/>
        <c:varyColors val="0"/>
        <c:ser>
          <c:idx val="1"/>
          <c:order val="1"/>
          <c:tx>
            <c:v>Seuil</c:v>
          </c:tx>
          <c:spPr>
            <a:ln xmlns:a="http://schemas.openxmlformats.org/drawingml/2006/main" w="19050">
              <a:solidFill>
                <a:srgbClr val="DA3633"/>
              </a:solidFill>
              <a:prstDash val="sysDash"/>
            </a:ln>
          </c:spPr>
          <c:marker>
            <c:symbol val="none"/>
          </c:marker>
          <c:val>
            <c:numLit>
              <c:formatCode>General</c:formatCode>
              <c:ptCount val="2"/>
              <c:pt idx="0">
                <c:v>105</c:v>
              </c:pt>
              <c:pt idx="1">
                <c:v>105</c:v>
              </c:pt>
            </c:numLit>
          </c:val>
        </c:ser>
        <c:marker val="0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B949E"/>
                </a:solidFill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140"/>
          <c:min val="100"/>
        </c:scaling>
        <c:delete val="0"/>
        <c:axPos val="l"/>
        <c:majorGridlines>
          <c:spPr>
            <a:ln xmlns:a="http://schemas.openxmlformats.org/drawingml/2006/main" w="6350">
              <a:solidFill>
                <a:srgbClr val="33333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B949E"/>
                </a:solidFill>
              </a:defRPr>
            </a:pPr>
          </a:p>
        </c:txPr>
        <c:crossAx val="1"/>
        <c:crosses val="autoZero"/>
        <c:crossBetween val="between"/>
      </c:valAx>
      <c:spPr>
        <a:solidFill xmlns:a="http://schemas.openxmlformats.org/drawingml/2006/main">
          <a:srgbClr val="1A2233"/>
        </a:solidFill>
      </c:spPr>
    </c:plotArea>
    <c:plotVisOnly val="1"/>
    <c:dispBlanksAs val="gap"/>
  </c:chart>
  <c:spPr>
    <a:solidFill xmlns:a="http://schemas.openxmlformats.org/drawingml/2006/main">
      <a:srgbClr val="0D1117"/>
    </a:solidFill>
  </c:spPr>
</c:chartSpace>
</file>

<file path=ppt/slides/charts/chart3.xml><?xml version="1.0" encoding="utf-8"?>
<c:chartSpace xmlns:a="http://schemas.openxmlformats.org/drawingml/2006/main"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>
                <a:solidFill>
                  <a:srgbClr val="E6EDF3"/>
                </a:solidFill>
              </a:rPr>
              <a:t>Repartition par pays (%)</a:t>
            </a:r>
          </a:p>
        </c:rich>
      </c:tx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v>2023</c:v>
          </c:tx>
          <c:spPr>
            <a:solidFill xmlns:a="http://schemas.openxmlformats.org/drawingml/2006/main">
              <a:srgbClr val="1F6FEB"/>
            </a:solidFill>
          </c:spPr>
          <c:invertIfNegative val="0"/>
          <c:cat>
            <c:strLit>
              <c:ptCount val="8"/>
              <c:pt idx="0">
                <c:v>France</c:v>
              </c:pt>
              <c:pt idx="1">
                <c:v>UK</c:v>
              </c:pt>
              <c:pt idx="2">
                <c:v>Coree Sud</c:v>
              </c:pt>
              <c:pt idx="3">
                <c:v>Allemagne</c:v>
              </c:pt>
              <c:pt idx="4">
                <c:v>Belgique</c:v>
              </c:pt>
              <c:pt idx="5">
                <c:v>Espagne</c:v>
              </c:pt>
              <c:pt idx="6">
                <c:v>Danemark</c:v>
              </c:pt>
              <c:pt idx="7">
                <c:v>Autres</c:v>
              </c:pt>
            </c:strLit>
          </c:cat>
          <c:val>
            <c:numLit>
              <c:formatCode>General</c:formatCode>
              <c:ptCount val="8"/>
              <c:pt idx="0">
                <c:v>81.9</c:v>
              </c:pt>
              <c:pt idx="1">
                <c:v>5.4</c:v>
              </c:pt>
              <c:pt idx="2">
                <c:v>4</c:v>
              </c:pt>
              <c:pt idx="3">
                <c:v>1.9</c:v>
              </c:pt>
              <c:pt idx="4">
                <c:v>1</c:v>
              </c:pt>
              <c:pt idx="5">
                <c:v>0.5</c:v>
              </c:pt>
              <c:pt idx="6">
                <c:v>0.4</c:v>
              </c:pt>
              <c:pt idx="7">
                <c:v>4.9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F0883E"/>
            </a:solidFill>
          </c:spPr>
          <c:invertIfNegative val="0"/>
          <c:cat>
            <c:strLit>
              <c:ptCount val="8"/>
              <c:pt idx="0">
                <c:v>France</c:v>
              </c:pt>
              <c:pt idx="1">
                <c:v>UK</c:v>
              </c:pt>
              <c:pt idx="2">
                <c:v>Coree Sud</c:v>
              </c:pt>
              <c:pt idx="3">
                <c:v>Allemagne</c:v>
              </c:pt>
              <c:pt idx="4">
                <c:v>Belgique</c:v>
              </c:pt>
              <c:pt idx="5">
                <c:v>Espagne</c:v>
              </c:pt>
              <c:pt idx="6">
                <c:v>Danemark</c:v>
              </c:pt>
              <c:pt idx="7">
                <c:v>Autres</c:v>
              </c:pt>
            </c:strLit>
          </c:cat>
          <c:val>
            <c:numLit>
              <c:formatCode>General</c:formatCode>
              <c:ptCount val="8"/>
              <c:pt idx="0">
                <c:v>76.4</c:v>
              </c:pt>
              <c:pt idx="1">
                <c:v>7.4</c:v>
              </c:pt>
              <c:pt idx="2">
                <c:v>6.3</c:v>
              </c:pt>
              <c:pt idx="3">
                <c:v>0.9</c:v>
              </c:pt>
              <c:pt idx="4">
                <c:v>1</c:v>
              </c:pt>
              <c:pt idx="5">
                <c:v>1.4</c:v>
              </c:pt>
              <c:pt idx="6">
                <c:v>1.5</c:v>
              </c:pt>
              <c:pt idx="7">
                <c:v>3.8</c:v>
              </c:pt>
            </c:numLit>
          </c:val>
        </c:ser>
        <c:dLbls>
          <c:txPr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E6EDF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B949E"/>
                </a:solidFill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>
          <c:spPr>
            <a:ln xmlns:a="http://schemas.openxmlformats.org/drawingml/2006/main" w="6350">
              <a:solidFill>
                <a:srgbClr val="33333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B949E"/>
                </a:solidFill>
              </a:defRPr>
            </a:pPr>
          </a:p>
        </c:txPr>
        <c:crossAx val="1"/>
        <c:crosses val="autoZero"/>
        <c:crossBetween val="between"/>
      </c:valAx>
      <c:spPr>
        <a:solidFill xmlns:a="http://schemas.openxmlformats.org/drawingml/2006/main">
          <a:srgbClr val="1A2233"/>
        </a:solidFill>
      </c:spPr>
    </c:plotArea>
    <c:legend>
      <c:legendPos val="b"/>
      <c:overlay val="0"/>
    </c:legend>
    <c:plotVisOnly val="1"/>
    <c:dispBlanksAs val="gap"/>
  </c:chart>
  <c:spPr>
    <a:solidFill xmlns:a="http://schemas.openxmlformats.org/drawingml/2006/main">
      <a:srgbClr val="0D1117"/>
    </a:solidFill>
  </c:spPr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>
            <a:off x="0" y="0"/>
            <a:ext cx="12193200" cy="3240000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1" name="TextBox 2"/>
          <p:cNvSpPr/>
          <p:nvPr/>
        </p:nvSpPr>
        <p:spPr>
          <a:xfrm>
            <a:off x="0" y="3168000"/>
            <a:ext cx="12193200" cy="43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2" name="TextBox 3"/>
          <p:cNvSpPr txBox="1"/>
          <p:nvPr/>
        </p:nvSpPr>
        <p:spPr>
          <a:xfrm>
            <a:off x="720000" y="432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000">
                <a:solidFill>
                  <a:srgbClr val="8B949E"/>
                </a:solidFill>
                <a:latin typeface="Arial"/>
                <a:ea typeface="Arial"/>
              </a:rPr>
              <a:t>SG SCF</a:t>
            </a:r>
          </a:p>
        </p:txBody>
      </p:sp>
      <p:sp>
        <p:nvSpPr>
          <p:cNvPr id="100003" name="TextBox 4"/>
          <p:cNvSpPr txBox="1"/>
          <p:nvPr/>
        </p:nvSpPr>
        <p:spPr>
          <a:xfrm>
            <a:off x="720000" y="1008000"/>
            <a:ext cx="1044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4200" b="1">
                <a:solidFill>
                  <a:srgbClr val="E6EDF3"/>
                </a:solidFill>
                <a:latin typeface="Arial"/>
                <a:ea typeface="Arial"/>
              </a:rPr>
              <a:t>Cover Pool Analytics</a:t>
            </a:r>
          </a:p>
        </p:txBody>
      </p:sp>
      <p:sp>
        <p:nvSpPr>
          <p:cNvPr id="100004" name="TextBox 5"/>
          <p:cNvSpPr txBox="1"/>
          <p:nvPr/>
        </p:nvSpPr>
        <p:spPr>
          <a:xfrm>
            <a:off x="720000" y="1728000"/>
            <a:ext cx="104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800">
                <a:solidFill>
                  <a:srgbClr val="1F6FEB"/>
                </a:solidFill>
                <a:latin typeface="Arial"/>
                <a:ea typeface="Arial"/>
              </a:rPr>
              <a:t>Evolution de l'actif de couverture 2023-2025</a:t>
            </a:r>
          </a:p>
        </p:txBody>
      </p:sp>
      <p:sp>
        <p:nvSpPr>
          <p:cNvPr id="100005" name="TextBox 6"/>
          <p:cNvSpPr txBox="1"/>
          <p:nvPr/>
        </p:nvSpPr>
        <p:spPr>
          <a:xfrm>
            <a:off x="720000" y="2160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300">
                <a:solidFill>
                  <a:srgbClr val="8B949E"/>
                </a:solidFill>
                <a:latin typeface="Arial"/>
                <a:ea typeface="Arial"/>
              </a:rPr>
              <a:t>Impact des variations macroeconomiques sur le ratio de surdimensionnement</a:t>
            </a:r>
          </a:p>
        </p:txBody>
      </p:sp>
      <p:sp>
        <p:nvSpPr>
          <p:cNvPr id="100006" name="TextBox 7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>
                <a:solidFill>
                  <a:srgbClr val="6E7681"/>
                </a:solidFill>
                <a:latin typeface="Arial"/>
                <a:ea typeface="Arial"/>
              </a:rPr>
              <a:t>Source : Rapports Financiers Annuels SG SCF 2023 &amp; 2025</a:t>
            </a:r>
          </a:p>
        </p:txBody>
      </p:sp>
      <p:sp>
        <p:nvSpPr>
          <p:cNvPr id="100007" name="TextBox 8"/>
          <p:cNvSpPr/>
          <p:nvPr/>
        </p:nvSpPr>
        <p:spPr>
          <a:xfrm>
            <a:off x="10260000" y="360000"/>
            <a:ext cx="1260000" cy="1260000"/>
          </a:xfrm>
          <a:prstGeom prst="ellipse">
            <a:avLst/>
          </a:prstGeom>
          <a:solidFill>
            <a:srgbClr val="1F6FEB">
              <a:alpha val="10000"/>
            </a:srgbClr>
          </a:solidFill>
          <a:ln w="1905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100008" name="TextBox 9"/>
          <p:cNvSpPr/>
          <p:nvPr/>
        </p:nvSpPr>
        <p:spPr>
          <a:xfrm>
            <a:off x="9360000" y="5400000"/>
            <a:ext cx="2160000" cy="1260000"/>
          </a:xfrm>
          <a:prstGeom prst="roundRect">
            <a:avLst/>
          </a:prstGeom>
          <a:solidFill>
            <a:srgbClr val="2EA043">
              <a:alpha val="8000"/>
            </a:srgbClr>
          </a:solidFill>
          <a:ln w="12700">
            <a:solidFill>
              <a:srgbClr val="2EA043"/>
            </a:solidFill>
          </a:ln>
        </p:spPr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>
            <a:off x="540000" y="216000"/>
            <a:ext cx="90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800" b="1">
                <a:solidFill>
                  <a:srgbClr val="E6EDF3"/>
                </a:solidFill>
                <a:latin typeface="Arial"/>
                <a:ea typeface="Arial"/>
              </a:rPr>
              <a:t>Indicateurs Cles 2023 vs 2025</a:t>
            </a:r>
          </a:p>
        </p:txBody>
      </p:sp>
      <p:sp>
        <p:nvSpPr>
          <p:cNvPr id="100010" name="TextBox 2"/>
          <p:cNvSpPr/>
          <p:nvPr/>
        </p:nvSpPr>
        <p:spPr>
          <a:xfrm>
            <a:off x="540000" y="720000"/>
            <a:ext cx="720000" cy="28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1" name="TextBox 3"/>
          <p:cNvSpPr/>
          <p:nvPr/>
        </p:nvSpPr>
        <p:spPr>
          <a:xfrm>
            <a:off x="540000" y="1008000"/>
            <a:ext cx="2628000" cy="216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12" name="TextBox 4"/>
          <p:cNvSpPr/>
          <p:nvPr/>
        </p:nvSpPr>
        <p:spPr>
          <a:xfrm>
            <a:off x="540000" y="1008000"/>
            <a:ext cx="2628000" cy="360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3" name="TextBox 5"/>
          <p:cNvSpPr txBox="1"/>
          <p:nvPr/>
        </p:nvSpPr>
        <p:spPr>
          <a:xfrm>
            <a:off x="720000" y="11880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 b="1">
                <a:solidFill>
                  <a:srgbClr val="8B949E"/>
                </a:solidFill>
                <a:latin typeface="Arial"/>
                <a:ea typeface="Arial"/>
              </a:rPr>
              <a:t>COVER POOL</a:t>
            </a:r>
          </a:p>
        </p:txBody>
      </p:sp>
      <p:sp>
        <p:nvSpPr>
          <p:cNvPr id="100014" name="TextBox 6"/>
          <p:cNvSpPr txBox="1"/>
          <p:nvPr/>
        </p:nvSpPr>
        <p:spPr>
          <a:xfrm>
            <a:off x="720000" y="1512000"/>
            <a:ext cx="23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400" b="1">
                <a:solidFill>
                  <a:srgbClr val="E6EDF3"/>
                </a:solidFill>
                <a:latin typeface="Arial"/>
                <a:ea typeface="Arial"/>
              </a:rPr>
              <a:t>19 931,3 M EUR</a:t>
            </a:r>
          </a:p>
        </p:txBody>
      </p:sp>
      <p:sp>
        <p:nvSpPr>
          <p:cNvPr id="100015" name="TextBox 7"/>
          <p:cNvSpPr txBox="1"/>
          <p:nvPr/>
        </p:nvSpPr>
        <p:spPr>
          <a:xfrm>
            <a:off x="720000" y="190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6E7681"/>
                </a:solidFill>
                <a:latin typeface="Arial"/>
                <a:ea typeface="Arial"/>
              </a:rPr>
              <a:t>16 778,3 M EUR (2023)</a:t>
            </a:r>
          </a:p>
        </p:txBody>
      </p:sp>
      <p:sp>
        <p:nvSpPr>
          <p:cNvPr id="100016" name="TextBox 8"/>
          <p:cNvSpPr/>
          <p:nvPr/>
        </p:nvSpPr>
        <p:spPr>
          <a:xfrm>
            <a:off x="720000" y="2232000"/>
            <a:ext cx="1260000" cy="324000"/>
          </a:xfrm>
          <a:prstGeom prst="roundRect">
            <a:avLst/>
          </a:prstGeom>
          <a:solidFill>
            <a:srgbClr val="2EA043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7" name="TextBox 9"/>
          <p:cNvSpPr txBox="1"/>
          <p:nvPr/>
        </p:nvSpPr>
        <p:spPr>
          <a:xfrm>
            <a:off x="720000" y="2250000"/>
            <a:ext cx="126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b="1">
                <a:solidFill>
                  <a:srgbClr val="2EA043"/>
                </a:solidFill>
                <a:latin typeface="Arial"/>
                <a:ea typeface="Arial"/>
              </a:rPr>
              <a:t>+18,8%</a:t>
            </a:r>
          </a:p>
        </p:txBody>
      </p:sp>
      <p:sp>
        <p:nvSpPr>
          <p:cNvPr id="100018" name="TextBox 10"/>
          <p:cNvSpPr/>
          <p:nvPr/>
        </p:nvSpPr>
        <p:spPr>
          <a:xfrm>
            <a:off x="3384000" y="1008000"/>
            <a:ext cx="2628000" cy="216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19" name="TextBox 11"/>
          <p:cNvSpPr/>
          <p:nvPr/>
        </p:nvSpPr>
        <p:spPr>
          <a:xfrm>
            <a:off x="3384000" y="1008000"/>
            <a:ext cx="2628000" cy="36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0" name="TextBox 12"/>
          <p:cNvSpPr txBox="1"/>
          <p:nvPr/>
        </p:nvSpPr>
        <p:spPr>
          <a:xfrm>
            <a:off x="3564000" y="118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 b="1">
                <a:solidFill>
                  <a:srgbClr val="8B949E"/>
                </a:solidFill>
                <a:latin typeface="Arial"/>
                <a:ea typeface="Arial"/>
              </a:rPr>
              <a:t>OBLIGATIONS FONCIERES</a:t>
            </a:r>
          </a:p>
        </p:txBody>
      </p:sp>
      <p:sp>
        <p:nvSpPr>
          <p:cNvPr id="100021" name="TextBox 13"/>
          <p:cNvSpPr txBox="1"/>
          <p:nvPr/>
        </p:nvSpPr>
        <p:spPr>
          <a:xfrm>
            <a:off x="3564000" y="1512000"/>
            <a:ext cx="23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400" b="1">
                <a:solidFill>
                  <a:srgbClr val="E6EDF3"/>
                </a:solidFill>
                <a:latin typeface="Arial"/>
                <a:ea typeface="Arial"/>
              </a:rPr>
              <a:t>15 700,6 M EUR</a:t>
            </a:r>
          </a:p>
        </p:txBody>
      </p:sp>
      <p:sp>
        <p:nvSpPr>
          <p:cNvPr id="100022" name="TextBox 14"/>
          <p:cNvSpPr txBox="1"/>
          <p:nvPr/>
        </p:nvSpPr>
        <p:spPr>
          <a:xfrm>
            <a:off x="3564000" y="190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6E7681"/>
                </a:solidFill>
                <a:latin typeface="Arial"/>
                <a:ea typeface="Arial"/>
              </a:rPr>
              <a:t>12 732,5 M EUR (2023)</a:t>
            </a:r>
          </a:p>
        </p:txBody>
      </p:sp>
      <p:sp>
        <p:nvSpPr>
          <p:cNvPr id="100023" name="TextBox 15"/>
          <p:cNvSpPr/>
          <p:nvPr/>
        </p:nvSpPr>
        <p:spPr>
          <a:xfrm>
            <a:off x="3564000" y="2232000"/>
            <a:ext cx="1260000" cy="324000"/>
          </a:xfrm>
          <a:prstGeom prst="roundRect">
            <a:avLst/>
          </a:prstGeom>
          <a:solidFill>
            <a:srgbClr val="1F6FEB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4" name="TextBox 16"/>
          <p:cNvSpPr txBox="1"/>
          <p:nvPr/>
        </p:nvSpPr>
        <p:spPr>
          <a:xfrm>
            <a:off x="3564000" y="2250000"/>
            <a:ext cx="126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b="1">
                <a:solidFill>
                  <a:srgbClr val="1F6FEB"/>
                </a:solidFill>
                <a:latin typeface="Arial"/>
                <a:ea typeface="Arial"/>
              </a:rPr>
              <a:t>+23,3%</a:t>
            </a:r>
          </a:p>
        </p:txBody>
      </p:sp>
      <p:sp>
        <p:nvSpPr>
          <p:cNvPr id="100025" name="TextBox 17"/>
          <p:cNvSpPr/>
          <p:nvPr/>
        </p:nvSpPr>
        <p:spPr>
          <a:xfrm>
            <a:off x="6228000" y="1008000"/>
            <a:ext cx="2628000" cy="216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26" name="TextBox 18"/>
          <p:cNvSpPr/>
          <p:nvPr/>
        </p:nvSpPr>
        <p:spPr>
          <a:xfrm>
            <a:off x="6228000" y="1008000"/>
            <a:ext cx="2628000" cy="36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7" name="TextBox 19"/>
          <p:cNvSpPr txBox="1"/>
          <p:nvPr/>
        </p:nvSpPr>
        <p:spPr>
          <a:xfrm>
            <a:off x="6408000" y="118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 b="1">
                <a:solidFill>
                  <a:srgbClr val="8B949E"/>
                </a:solidFill>
                <a:latin typeface="Arial"/>
                <a:ea typeface="Arial"/>
              </a:rPr>
              <a:t>RATIO DE COUVERTURE</a:t>
            </a:r>
          </a:p>
        </p:txBody>
      </p:sp>
      <p:sp>
        <p:nvSpPr>
          <p:cNvPr id="100028" name="TextBox 20"/>
          <p:cNvSpPr txBox="1"/>
          <p:nvPr/>
        </p:nvSpPr>
        <p:spPr>
          <a:xfrm>
            <a:off x="6408000" y="1512000"/>
            <a:ext cx="23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400" b="1">
                <a:solidFill>
                  <a:srgbClr val="E6EDF3"/>
                </a:solidFill>
                <a:latin typeface="Arial"/>
                <a:ea typeface="Arial"/>
              </a:rPr>
              <a:t>127,24%</a:t>
            </a:r>
          </a:p>
        </p:txBody>
      </p:sp>
      <p:sp>
        <p:nvSpPr>
          <p:cNvPr id="100029" name="TextBox 21"/>
          <p:cNvSpPr txBox="1"/>
          <p:nvPr/>
        </p:nvSpPr>
        <p:spPr>
          <a:xfrm>
            <a:off x="6408000" y="190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6E7681"/>
                </a:solidFill>
                <a:latin typeface="Arial"/>
                <a:ea typeface="Arial"/>
              </a:rPr>
              <a:t>132,20% (2023)</a:t>
            </a:r>
          </a:p>
        </p:txBody>
      </p:sp>
      <p:sp>
        <p:nvSpPr>
          <p:cNvPr id="100030" name="TextBox 22"/>
          <p:cNvSpPr/>
          <p:nvPr/>
        </p:nvSpPr>
        <p:spPr>
          <a:xfrm>
            <a:off x="6408000" y="2232000"/>
            <a:ext cx="1440000" cy="324000"/>
          </a:xfrm>
          <a:prstGeom prst="roundRect">
            <a:avLst/>
          </a:prstGeom>
          <a:solidFill>
            <a:srgbClr val="F0883E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1" name="TextBox 23"/>
          <p:cNvSpPr txBox="1"/>
          <p:nvPr/>
        </p:nvSpPr>
        <p:spPr>
          <a:xfrm>
            <a:off x="6408000" y="2250000"/>
            <a:ext cx="144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b="1">
                <a:solidFill>
                  <a:srgbClr val="F0883E"/>
                </a:solidFill>
                <a:latin typeface="Arial"/>
                <a:ea typeface="Arial"/>
              </a:rPr>
              <a:t>-4,96 pts</a:t>
            </a:r>
          </a:p>
        </p:txBody>
      </p:sp>
      <p:sp>
        <p:nvSpPr>
          <p:cNvPr id="100032" name="TextBox 24"/>
          <p:cNvSpPr/>
          <p:nvPr/>
        </p:nvSpPr>
        <p:spPr>
          <a:xfrm>
            <a:off x="9072000" y="1008000"/>
            <a:ext cx="2628000" cy="216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33" name="TextBox 25"/>
          <p:cNvSpPr/>
          <p:nvPr/>
        </p:nvSpPr>
        <p:spPr>
          <a:xfrm>
            <a:off x="9072000" y="1008000"/>
            <a:ext cx="2628000" cy="360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4" name="TextBox 26"/>
          <p:cNvSpPr txBox="1"/>
          <p:nvPr/>
        </p:nvSpPr>
        <p:spPr>
          <a:xfrm>
            <a:off x="9252000" y="118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 b="1">
                <a:solidFill>
                  <a:srgbClr val="8B949E"/>
                </a:solidFill>
                <a:latin typeface="Arial"/>
                <a:ea typeface="Arial"/>
              </a:rPr>
              <a:t>QUALITE DE CREDIT</a:t>
            </a:r>
          </a:p>
        </p:txBody>
      </p:sp>
      <p:sp>
        <p:nvSpPr>
          <p:cNvPr id="100035" name="TextBox 27"/>
          <p:cNvSpPr txBox="1"/>
          <p:nvPr/>
        </p:nvSpPr>
        <p:spPr>
          <a:xfrm>
            <a:off x="9252000" y="1512000"/>
            <a:ext cx="23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200" b="1">
                <a:solidFill>
                  <a:srgbClr val="E6EDF3"/>
                </a:solidFill>
                <a:latin typeface="Arial"/>
                <a:ea typeface="Arial"/>
              </a:rPr>
              <a:t>AA- / Echelon 1</a:t>
            </a:r>
          </a:p>
        </p:txBody>
      </p:sp>
      <p:sp>
        <p:nvSpPr>
          <p:cNvPr id="100036" name="TextBox 28"/>
          <p:cNvSpPr/>
          <p:nvPr/>
        </p:nvSpPr>
        <p:spPr>
          <a:xfrm>
            <a:off x="9252000" y="2232000"/>
            <a:ext cx="1368000" cy="324000"/>
          </a:xfrm>
          <a:prstGeom prst="roundRect">
            <a:avLst/>
          </a:prstGeom>
          <a:solidFill>
            <a:srgbClr val="2EA043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7" name="TextBox 29"/>
          <p:cNvSpPr txBox="1"/>
          <p:nvPr/>
        </p:nvSpPr>
        <p:spPr>
          <a:xfrm>
            <a:off x="9252000" y="2250000"/>
            <a:ext cx="1368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b="1">
                <a:solidFill>
                  <a:srgbClr val="2EA043"/>
                </a:solidFill>
                <a:latin typeface="Arial"/>
                <a:ea typeface="Arial"/>
              </a:rPr>
              <a:t>Excellent</a:t>
            </a:r>
          </a:p>
        </p:txBody>
      </p:sp>
      <p:sp>
        <p:nvSpPr>
          <p:cNvPr id="100038" name="TextBox 30"/>
          <p:cNvSpPr txBox="1"/>
          <p:nvPr/>
        </p:nvSpPr>
        <p:spPr>
          <a:xfrm>
            <a:off x="540000" y="3420000"/>
            <a:ext cx="1116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Le seuil reglementaire minimum est de 105% (Art. R.513-8). Le ratio de 127,24% en 2025 conserve une marge confortable de +22,2 points.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39" name="TextBox 1"/>
          <p:cNvSpPr txBox="1"/>
          <p:nvPr/>
        </p:nvSpPr>
        <p:spPr>
          <a:xfrm>
            <a:off x="540000" y="180000"/>
            <a:ext cx="100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600" b="1">
                <a:solidFill>
                  <a:srgbClr val="E6EDF3"/>
                </a:solidFill>
                <a:latin typeface="Arial"/>
                <a:ea typeface="Arial"/>
              </a:rPr>
              <a:t>Cover Pool vs Obligations Foncieres</a:t>
            </a:r>
          </a:p>
        </p:txBody>
      </p:sp>
      <p:sp>
        <p:nvSpPr>
          <p:cNvPr id="100040" name="TextBox 2"/>
          <p:cNvSpPr/>
          <p:nvPr/>
        </p:nvSpPr>
        <p:spPr>
          <a:xfrm>
            <a:off x="540000" y="648000"/>
            <a:ext cx="720000" cy="28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100041" name="Croissance des actifs et du passif (M EUR)"/>
          <p:cNvGraphicFramePr/>
          <p:nvPr/>
        </p:nvGraphicFramePr>
        <p:xfrm>
          <a:off x="720000" y="108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34f771dc2a3848c0"/>
          </a:graphicData>
        </a:graphic>
      </p:graphicFrame>
      <p:sp>
        <p:nvSpPr>
          <p:cNvPr id="100042" name="TextBox 3"/>
          <p:cNvSpPr/>
          <p:nvPr/>
        </p:nvSpPr>
        <p:spPr>
          <a:xfrm>
            <a:off x="7560000" y="1080000"/>
            <a:ext cx="3960000" cy="162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43" name="TextBox 4"/>
          <p:cNvSpPr txBox="1"/>
          <p:nvPr/>
        </p:nvSpPr>
        <p:spPr>
          <a:xfrm>
            <a:off x="7740000" y="1188000"/>
            <a:ext cx="36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200" b="1">
                <a:solidFill>
                  <a:srgbClr val="1F6FEB"/>
                </a:solidFill>
                <a:latin typeface="Arial"/>
                <a:ea typeface="Arial"/>
              </a:rPr>
              <a:t>Lecture cle</a:t>
            </a:r>
          </a:p>
        </p:txBody>
      </p:sp>
      <p:sp>
        <p:nvSpPr>
          <p:cNvPr id="100044" name="TextBox 5"/>
          <p:cNvSpPr txBox="1"/>
          <p:nvPr/>
        </p:nvSpPr>
        <p:spPr>
          <a:xfrm>
            <a:off x="7740000" y="1512000"/>
            <a:ext cx="36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Le passif obligataire (+23,3%) a cru plus vite que le cover pool (+18,8%), ce qui explique la baisse mecanique du ratio de couverture de 132,20% a 127,24%.</a:t>
            </a:r>
          </a:p>
        </p:txBody>
      </p:sp>
      <p:sp>
        <p:nvSpPr>
          <p:cNvPr id="100045" name="TextBox 6"/>
          <p:cNvSpPr/>
          <p:nvPr/>
        </p:nvSpPr>
        <p:spPr>
          <a:xfrm>
            <a:off x="7560000" y="2880000"/>
            <a:ext cx="3960000" cy="180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46" name="TextBox 7"/>
          <p:cNvSpPr txBox="1"/>
          <p:nvPr/>
        </p:nvSpPr>
        <p:spPr>
          <a:xfrm>
            <a:off x="7740000" y="2988000"/>
            <a:ext cx="36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200" b="1">
                <a:solidFill>
                  <a:srgbClr val="2EA043"/>
                </a:solidFill>
                <a:latin typeface="Arial"/>
                <a:ea typeface="Arial"/>
              </a:rPr>
              <a:t>Gestion active 2025</a:t>
            </a:r>
          </a:p>
        </p:txBody>
      </p:sp>
      <p:sp>
        <p:nvSpPr>
          <p:cNvPr id="100047" name="TextBox 8"/>
          <p:cNvSpPr txBox="1"/>
          <p:nvPr/>
        </p:nvSpPr>
        <p:spPr>
          <a:xfrm>
            <a:off x="7740000" y="3312000"/>
            <a:ext cx="3600000" cy="1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- Nouvelles creances mobilisees : 3 657 M EUR (+156% vs 2023)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- Obligations remboursees : 1 Md EUR (series 40 et 52)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- Sans cet effort, le ratio aurait baisse davantage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- Diversification renforcee vers la Coree du Sud et le Royaume-Uni</a:t>
            </a:r>
          </a:p>
        </p:txBody>
      </p:sp>
    </p:spTree>
  </p:cSld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 txBox="1"/>
          <p:nvPr/>
        </p:nvSpPr>
        <p:spPr>
          <a:xfrm>
            <a:off x="540000" y="180000"/>
            <a:ext cx="100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600" b="1">
                <a:solidFill>
                  <a:srgbClr val="E6EDF3"/>
                </a:solidFill>
                <a:latin typeface="Arial"/>
                <a:ea typeface="Arial"/>
              </a:rPr>
              <a:t>Evolution du Ratio de Couverture Reglementaire</a:t>
            </a:r>
          </a:p>
        </p:txBody>
      </p:sp>
      <p:sp>
        <p:nvSpPr>
          <p:cNvPr id="100049" name="TextBox 2"/>
          <p:cNvSpPr/>
          <p:nvPr/>
        </p:nvSpPr>
        <p:spPr>
          <a:xfrm>
            <a:off x="540000" y="648000"/>
            <a:ext cx="720000" cy="288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100050" name="Ratio de couverture (%)"/>
          <p:cNvGraphicFramePr/>
          <p:nvPr/>
        </p:nvGraphicFramePr>
        <p:xfrm>
          <a:off x="720000" y="1080000"/>
          <a:ext cx="540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8a6b188c478a4d3e"/>
          </a:graphicData>
        </a:graphic>
      </p:graphicFrame>
      <p:sp>
        <p:nvSpPr>
          <p:cNvPr id="100051" name="TextBox 3"/>
          <p:cNvSpPr/>
          <p:nvPr/>
        </p:nvSpPr>
        <p:spPr>
          <a:xfrm>
            <a:off x="6480000" y="1080000"/>
            <a:ext cx="5040000" cy="360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52" name="TextBox 4"/>
          <p:cNvSpPr txBox="1"/>
          <p:nvPr/>
        </p:nvSpPr>
        <p:spPr>
          <a:xfrm>
            <a:off x="6660000" y="1188000"/>
            <a:ext cx="468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 b="1">
                <a:solidFill>
                  <a:srgbClr val="E6EDF3"/>
                </a:solidFill>
                <a:latin typeface="Arial"/>
                <a:ea typeface="Arial"/>
              </a:rPr>
              <a:t>Analyse detaillee du ratio</a:t>
            </a:r>
          </a:p>
        </p:txBody>
      </p:sp>
      <p:sp>
        <p:nvSpPr>
          <p:cNvPr id="100053" name="TextBox 5"/>
          <p:cNvSpPr txBox="1"/>
          <p:nvPr/>
        </p:nvSpPr>
        <p:spPr>
          <a:xfrm>
            <a:off x="6660000" y="1548000"/>
            <a:ext cx="468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Ratio constate : 132,20% (2023) -&gt; 127,24% (2025)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Seuil reglementaire minimum : 105% (Art. R.513-8)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Marge actuelle : +22,2 points au-dessus du seuil</a:t>
            </a:r>
          </a:p>
        </p:txBody>
      </p:sp>
      <p:sp>
        <p:nvSpPr>
          <p:cNvPr id="100054" name="TextBox 6"/>
          <p:cNvSpPr txBox="1"/>
          <p:nvPr/>
        </p:nvSpPr>
        <p:spPr>
          <a:xfrm>
            <a:off x="6660000" y="2340000"/>
            <a:ext cx="468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200" b="1">
                <a:solidFill>
                  <a:srgbClr val="F0883E"/>
                </a:solidFill>
                <a:latin typeface="Arial"/>
                <a:ea typeface="Arial"/>
              </a:rPr>
              <a:t>Referentiels agences (2023)</a:t>
            </a:r>
          </a:p>
        </p:txBody>
      </p:sp>
      <p:sp>
        <p:nvSpPr>
          <p:cNvPr id="100055" name="TextBox 7"/>
          <p:cNvSpPr txBox="1"/>
          <p:nvPr/>
        </p:nvSpPr>
        <p:spPr>
          <a:xfrm>
            <a:off x="6660000" y="2628000"/>
            <a:ext cx="468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Surdimensionnement constate : 135,2%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Taux requis par les agences : 122%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La remontee des taux en 2022-2023 a conduit les agences a relever leur exigence de surdimensionnement</a:t>
            </a:r>
          </a:p>
        </p:txBody>
      </p:sp>
      <p:sp>
        <p:nvSpPr>
          <p:cNvPr id="100056" name="TextBox 8"/>
          <p:cNvSpPr txBox="1"/>
          <p:nvPr/>
        </p:nvSpPr>
        <p:spPr>
          <a:xfrm>
            <a:off x="6660000" y="3528000"/>
            <a:ext cx="4680000" cy="10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Facteurs explicatifs de la baisse :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&gt; Croissance du passif (+23,3%) &gt; croissance du cover pool (+18,8%)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&gt; Remboursement de 1 Md EUR d'obligations arrivees a echeance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&gt; Contrebalance par 3 657 M EUR de nouvelles creances mobilisees</a:t>
            </a:r>
          </a:p>
        </p:txBody>
      </p:sp>
    </p:spTree>
  </p:cSld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57" name="TextBox 1"/>
          <p:cNvSpPr/>
          <p:nvPr/>
        </p:nvSpPr>
        <p:spPr>
          <a:xfrm>
            <a:off x="540000" y="648000"/>
            <a:ext cx="720000" cy="288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100058" name="Repartition par pays (%)"/>
          <p:cNvGraphicFramePr/>
          <p:nvPr/>
        </p:nvGraphicFramePr>
        <p:xfrm>
          <a:off x="720000" y="1080000"/>
          <a:ext cx="7200000" cy="378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a6903f20a61d423d"/>
          </a:graphicData>
        </a:graphic>
      </p:graphicFrame>
      <p:sp>
        <p:nvSpPr>
          <p:cNvPr id="100059" name="TextBox 2"/>
          <p:cNvSpPr/>
          <p:nvPr/>
        </p:nvSpPr>
        <p:spPr>
          <a:xfrm>
            <a:off x="8100000" y="1080000"/>
            <a:ext cx="3420000" cy="162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60" name="TextBox 3"/>
          <p:cNvSpPr txBox="1"/>
          <p:nvPr/>
        </p:nvSpPr>
        <p:spPr>
          <a:xfrm>
            <a:off x="8280000" y="1188000"/>
            <a:ext cx="306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200" b="1">
                <a:solidFill>
                  <a:srgbClr val="2EA043"/>
                </a:solidFill>
                <a:latin typeface="Arial"/>
                <a:ea typeface="Arial"/>
              </a:rPr>
              <a:t>Tendance 2023 -&gt; 2025</a:t>
            </a:r>
          </a:p>
        </p:txBody>
      </p:sp>
      <p:sp>
        <p:nvSpPr>
          <p:cNvPr id="100061" name="TextBox 4"/>
          <p:cNvSpPr txBox="1"/>
          <p:nvPr/>
        </p:nvSpPr>
        <p:spPr>
          <a:xfrm>
            <a:off x="8280000" y="1512000"/>
            <a:ext cx="306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France : 81,9% -&gt; 76,4% (-5,5 pts)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Coree du Sud : 4,0% -&gt; 7,4% (+3,4 pts)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UK : 5,4% -&gt; 6,3% (+0,9 pts)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Danemark : 0,4% -&gt; 1,5% (+1,1 pts)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Nouveaux : Pologne, Pays-Bas</a:t>
            </a:r>
          </a:p>
        </p:txBody>
      </p:sp>
      <p:sp>
        <p:nvSpPr>
          <p:cNvPr id="100062" name="TextBox 5"/>
          <p:cNvSpPr/>
          <p:nvPr/>
        </p:nvSpPr>
        <p:spPr>
          <a:xfrm>
            <a:off x="8100000" y="2880000"/>
            <a:ext cx="3420000" cy="198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63" name="TextBox 6"/>
          <p:cNvSpPr txBox="1"/>
          <p:nvPr/>
        </p:nvSpPr>
        <p:spPr>
          <a:xfrm>
            <a:off x="8280000" y="3312000"/>
            <a:ext cx="306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La reduction de la concentration francaise (de 81,9% a 76,4%) traduit une strategie active de diversification vers l'Asie (Coree) et le Nord de l'Europe.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/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Cette diversification reduit le risque de concentration tout en elargissant la base d'actifs eligibles au-dela du marche domestique.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64" name="TextBox 1"/>
          <p:cNvSpPr txBox="1"/>
          <p:nvPr/>
        </p:nvSpPr>
        <p:spPr>
          <a:xfrm>
            <a:off x="540000" y="180000"/>
            <a:ext cx="100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400" b="1">
                <a:solidFill>
                  <a:srgbClr val="E6EDF3"/>
                </a:solidFill>
                <a:latin typeface="Arial"/>
                <a:ea typeface="Arial"/>
              </a:rPr>
              <a:t>Facteurs Macroeconomiques et Impact sur le Ratio</a:t>
            </a:r>
          </a:p>
        </p:txBody>
      </p:sp>
      <p:sp>
        <p:nvSpPr>
          <p:cNvPr id="100065" name="TextBox 2"/>
          <p:cNvSpPr/>
          <p:nvPr/>
        </p:nvSpPr>
        <p:spPr>
          <a:xfrm>
            <a:off x="540000" y="648000"/>
            <a:ext cx="720000" cy="288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66" name="TextBox 3"/>
          <p:cNvSpPr/>
          <p:nvPr/>
        </p:nvSpPr>
        <p:spPr>
          <a:xfrm>
            <a:off x="540000" y="1008000"/>
            <a:ext cx="5400000" cy="234000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F0883E"/>
            </a:solidFill>
          </a:ln>
        </p:spPr>
        <p:txBody>
          <a:bodyPr/>
          <a:lstStyle/>
          <a:p/>
        </p:txBody>
      </p:sp>
      <p:sp>
        <p:nvSpPr>
          <p:cNvPr id="100067" name="TextBox 4"/>
          <p:cNvSpPr/>
          <p:nvPr/>
        </p:nvSpPr>
        <p:spPr>
          <a:xfrm>
            <a:off x="540000" y="1008000"/>
            <a:ext cx="5400000" cy="432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68" name="TextBox 5"/>
          <p:cNvSpPr txBox="1"/>
          <p:nvPr/>
        </p:nvSpPr>
        <p:spPr>
          <a:xfrm>
            <a:off x="720000" y="1152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 b="1">
                <a:solidFill>
                  <a:srgbClr val="F0883E"/>
                </a:solidFill>
                <a:latin typeface="Arial"/>
                <a:ea typeface="Arial"/>
              </a:rPr>
              <a:t>PHASE 1  |  2022-2023</a:t>
            </a:r>
          </a:p>
        </p:txBody>
      </p:sp>
      <p:sp>
        <p:nvSpPr>
          <p:cNvPr id="100069" name="TextBox 6"/>
          <p:cNvSpPr txBox="1"/>
          <p:nvPr/>
        </p:nvSpPr>
        <p:spPr>
          <a:xfrm>
            <a:off x="720000" y="1404000"/>
            <a:ext cx="504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600" b="1">
                <a:solidFill>
                  <a:srgbClr val="E6EDF3"/>
                </a:solidFill>
                <a:latin typeface="Arial"/>
                <a:ea typeface="Arial"/>
              </a:rPr>
              <a:t>Choc de taux et inflation</a:t>
            </a:r>
          </a:p>
        </p:txBody>
      </p:sp>
      <p:sp>
        <p:nvSpPr>
          <p:cNvPr id="100070" name="TextBox 7"/>
          <p:cNvSpPr txBox="1"/>
          <p:nvPr/>
        </p:nvSpPr>
        <p:spPr>
          <a:xfrm>
            <a:off x="720000" y="1800000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Hausse brutale des taux directeurs BCE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Inflation post-Covid persistante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Guerre en Ukraine et choc energetique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Reprise des taux requis par les agences</a:t>
            </a:r>
          </a:p>
        </p:txBody>
      </p:sp>
      <p:sp>
        <p:nvSpPr>
          <p:cNvPr id="100071" name="TextBox 8"/>
          <p:cNvSpPr/>
          <p:nvPr/>
        </p:nvSpPr>
        <p:spPr>
          <a:xfrm>
            <a:off x="720000" y="2808000"/>
            <a:ext cx="5040000" cy="432000"/>
          </a:xfrm>
          <a:prstGeom prst="roundRect">
            <a:avLst/>
          </a:prstGeom>
          <a:solidFill>
            <a:srgbClr val="F0883E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072" name="TextBox 9"/>
          <p:cNvSpPr txBox="1"/>
          <p:nvPr/>
        </p:nvSpPr>
        <p:spPr>
          <a:xfrm>
            <a:off x="720000" y="2826000"/>
            <a:ext cx="5040000" cy="39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0883E"/>
                </a:solidFill>
                <a:latin typeface="Arial"/>
                <a:ea typeface="Arial"/>
              </a:rPr>
              <a:t>Impact : taux requis releve a 122% | Compression de la marge</a:t>
            </a:r>
          </a:p>
        </p:txBody>
      </p:sp>
      <p:sp>
        <p:nvSpPr>
          <p:cNvPr id="100073" name="TextBox 10"/>
          <p:cNvSpPr/>
          <p:nvPr/>
        </p:nvSpPr>
        <p:spPr>
          <a:xfrm>
            <a:off x="6300000" y="1008000"/>
            <a:ext cx="5400000" cy="234000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100074" name="TextBox 11"/>
          <p:cNvSpPr/>
          <p:nvPr/>
        </p:nvSpPr>
        <p:spPr>
          <a:xfrm>
            <a:off x="6300000" y="1008000"/>
            <a:ext cx="5400000" cy="43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75" name="TextBox 12"/>
          <p:cNvSpPr txBox="1"/>
          <p:nvPr/>
        </p:nvSpPr>
        <p:spPr>
          <a:xfrm>
            <a:off x="6480000" y="1152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 b="1">
                <a:solidFill>
                  <a:srgbClr val="1F6FEB"/>
                </a:solidFill>
                <a:latin typeface="Arial"/>
                <a:ea typeface="Arial"/>
              </a:rPr>
              <a:t>PHASE 2  |  2024-2025</a:t>
            </a:r>
          </a:p>
        </p:txBody>
      </p:sp>
      <p:sp>
        <p:nvSpPr>
          <p:cNvPr id="100076" name="TextBox 13"/>
          <p:cNvSpPr txBox="1"/>
          <p:nvPr/>
        </p:nvSpPr>
        <p:spPr>
          <a:xfrm>
            <a:off x="6480000" y="1404000"/>
            <a:ext cx="504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600" b="1">
                <a:solidFill>
                  <a:srgbClr val="E6EDF3"/>
                </a:solidFill>
                <a:latin typeface="Arial"/>
                <a:ea typeface="Arial"/>
              </a:rPr>
              <a:t>Taux eleves et tensions politiques</a:t>
            </a:r>
          </a:p>
        </p:txBody>
      </p:sp>
      <p:sp>
        <p:nvSpPr>
          <p:cNvPr id="100077" name="TextBox 14"/>
          <p:cNvSpPr txBox="1"/>
          <p:nvPr/>
        </p:nvSpPr>
        <p:spPr>
          <a:xfrm>
            <a:off x="6480000" y="1800000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Baisse prudente des taux BCE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Protectionnisme US (administration Trump)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Instabilite politique francaise (spreads OAT)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Procedures UE pour deficit excessif</a:t>
            </a:r>
          </a:p>
        </p:txBody>
      </p:sp>
      <p:sp>
        <p:nvSpPr>
          <p:cNvPr id="100078" name="TextBox 15"/>
          <p:cNvSpPr txBox="1"/>
          <p:nvPr/>
        </p:nvSpPr>
        <p:spPr>
          <a:xfrm>
            <a:off x="6480000" y="2826000"/>
            <a:ext cx="5040000" cy="39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1F6FEB"/>
                </a:solidFill>
                <a:latin typeface="Arial"/>
                <a:ea typeface="Arial"/>
              </a:rPr>
              <a:t>Impact : repli du ratio a 127,24% mais maitrise par 3 657 M EUR de nouvelles creances</a:t>
            </a:r>
          </a:p>
        </p:txBody>
      </p:sp>
      <p:sp>
        <p:nvSpPr>
          <p:cNvPr id="100079" name="TextBox 16"/>
          <p:cNvSpPr/>
          <p:nvPr/>
        </p:nvSpPr>
        <p:spPr>
          <a:xfrm>
            <a:off x="540000" y="3600000"/>
            <a:ext cx="11160000" cy="108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80" name="TextBox 17"/>
          <p:cNvSpPr txBox="1"/>
          <p:nvPr/>
        </p:nvSpPr>
        <p:spPr>
          <a:xfrm>
            <a:off x="720000" y="3708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Canal de transmission : la hausse des taux (2022-2023) a comprime la marge actifs/passifs et releve les exigences des agences. En 2024-2025, la croissance du passif (+23,3%) a depasse celle du cover pool (+18,8%). La gestion active (3 657 M EUR de nouvelles creances) a permis de limiter la baisse du ratio a 4,96 points seulement.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81" name="TextBox 1"/>
          <p:cNvSpPr txBox="1"/>
          <p:nvPr/>
        </p:nvSpPr>
        <p:spPr>
          <a:xfrm>
            <a:off x="540000" y="180000"/>
            <a:ext cx="100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600" b="1">
                <a:solidFill>
                  <a:srgbClr val="E6EDF3"/>
                </a:solidFill>
                <a:latin typeface="Arial"/>
                <a:ea typeface="Arial"/>
              </a:rPr>
              <a:t>Indicateurs de Liquidite et Conclusion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2026-07-26T06:48:31Z</dcterms:created>
  <cp:lastModifiedBy>OfficeCLI</cp:lastModifiedBy>
  <dcterms:modified xsi:type="dcterms:W3CDTF">2026-07-26T06:48:31Z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1.0.141</vt:lpwstr>
  </op:property>
  <op:property fmtid="{D5CDD505-2E9C-101B-9397-08002B2CF9AE}" pid="3" name="OfficeCLI.LastModified">
    <vt:lpwstr xmlns:vt="http://schemas.openxmlformats.org/officeDocument/2006/docPropsVTypes">2026-07-26T07:01:19Z</vt:lpwstr>
  </op:property>
</op:Properties>
</file>